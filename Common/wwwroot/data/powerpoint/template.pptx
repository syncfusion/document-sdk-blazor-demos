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2" r:id="rId5"/>
    <p:sldId id="263"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Sales comparison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D57-4191-AAF5-BA179257C2BD}"/>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D57-4191-AAF5-BA179257C2BD}"/>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D57-4191-AAF5-BA179257C2BD}"/>
            </c:ext>
          </c:extLst>
        </c:ser>
        <c:dLbls>
          <c:showLegendKey val="0"/>
          <c:showVal val="0"/>
          <c:showCatName val="0"/>
          <c:showSerName val="0"/>
          <c:showPercent val="0"/>
          <c:showBubbleSize val="0"/>
        </c:dLbls>
        <c:gapWidth val="219"/>
        <c:overlap val="-27"/>
        <c:axId val="524599032"/>
        <c:axId val="524595752"/>
      </c:barChart>
      <c:catAx>
        <c:axId val="524599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4595752"/>
        <c:crosses val="autoZero"/>
        <c:auto val="1"/>
        <c:lblAlgn val="ctr"/>
        <c:lblOffset val="100"/>
        <c:noMultiLvlLbl val="0"/>
      </c:catAx>
      <c:valAx>
        <c:axId val="5245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24599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88092-E867-4E68-9886-B0205E2A27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A09C4B-0CC4-4993-9D0F-D27A49D73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9D6B2-3203-48A7-85C0-06852B52786A}"/>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A8B66A1C-EA7F-4E6F-ABAD-D25AF2A5D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B37CF-1A86-42A3-A07C-D2DA7880CA4C}"/>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8798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A55BD-9E4B-40B7-8EB9-7F10B7270B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51656E-1980-4619-BBC2-1C0AECF5FFE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37196B-85A7-4EE9-A037-146860D00D65}"/>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9E1B61C3-1137-4444-8857-E46855FEA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A481B-7D56-458D-9F0B-73F00649E611}"/>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30213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5B27-DE83-4844-A575-54EE450B1A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5B7AB5-6E0B-4DBB-86F4-37CEA31A46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06E480A-0C03-4D18-BE4C-6E525B2F6428}"/>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992B60B8-19CB-47CB-B72B-0416852AA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9FE0F-A484-4EA7-8FD2-04C4B877694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97907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4C114-EFA0-42E6-B430-30AD2967F2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B1390-1CCB-4CF0-913E-185544AF421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93107-53DE-4DCB-BE89-54BC1D44CC2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31A65B-5BD3-4B14-A039-5A309529A78B}"/>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6" name="Footer Placeholder 5">
            <a:extLst>
              <a:ext uri="{FF2B5EF4-FFF2-40B4-BE49-F238E27FC236}">
                <a16:creationId xmlns:a16="http://schemas.microsoft.com/office/drawing/2014/main" id="{268F39D9-988D-459E-B1CD-C501E6C88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8384-38C5-424B-B863-1234309677F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956836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DCAC-57AB-4D6E-BC77-E5FBF27FE7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BFAF32-0E0F-4B9B-ABF8-08957C05BA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6BFCF4-C2D9-425F-B022-40ACE4EA8C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980780-05D2-4D96-A9D5-53484814E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8D4A927-7B61-40C1-92AB-6880517576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AB97D1-5A3B-4059-815A-340FB824448A}"/>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8" name="Footer Placeholder 7">
            <a:extLst>
              <a:ext uri="{FF2B5EF4-FFF2-40B4-BE49-F238E27FC236}">
                <a16:creationId xmlns:a16="http://schemas.microsoft.com/office/drawing/2014/main" id="{B72DE78E-294B-446D-8474-6BA224D5B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C3293A-4FD6-4428-85E0-574DF5719A8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978228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1404-108D-4FCC-8492-ACE9DCF177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FFD965-28FF-4929-B0DA-92C66945B932}"/>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4" name="Footer Placeholder 3">
            <a:extLst>
              <a:ext uri="{FF2B5EF4-FFF2-40B4-BE49-F238E27FC236}">
                <a16:creationId xmlns:a16="http://schemas.microsoft.com/office/drawing/2014/main" id="{16DAA5E0-83C1-4CF4-880B-2CF539CB7F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AF3922-374B-4171-8BC5-F1E0F8421F58}"/>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3607219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AB476E-AC05-47E6-A12F-24C0D753CF12}"/>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3" name="Footer Placeholder 2">
            <a:extLst>
              <a:ext uri="{FF2B5EF4-FFF2-40B4-BE49-F238E27FC236}">
                <a16:creationId xmlns:a16="http://schemas.microsoft.com/office/drawing/2014/main" id="{63C97C91-D4AD-4F7E-B19C-A36AC68BCE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8A34-EE4E-4307-B20A-F719CBC3FB1F}"/>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68259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3019-6048-4EF1-8E67-3302EF95B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EAC829-6F62-4C5B-A4FE-88D795CAC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7B1730-5CED-46AB-8AF2-3560B7266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7798A2-8D49-4C9C-8CB7-5367A10AB5B7}"/>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6" name="Footer Placeholder 5">
            <a:extLst>
              <a:ext uri="{FF2B5EF4-FFF2-40B4-BE49-F238E27FC236}">
                <a16:creationId xmlns:a16="http://schemas.microsoft.com/office/drawing/2014/main" id="{7C709CD0-EF6C-41C7-B9BA-9FC337BD7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E108C-CC43-4553-B063-33D1C360EC5A}"/>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82206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A4BF-7EBD-4087-A800-77CFD938A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2AE39C-E7E5-4536-968C-65137F387D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6C026E-0017-4FFD-BB30-78C5416B2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C98FE5-8A1C-4192-984C-C18B093CADF6}"/>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6" name="Footer Placeholder 5">
            <a:extLst>
              <a:ext uri="{FF2B5EF4-FFF2-40B4-BE49-F238E27FC236}">
                <a16:creationId xmlns:a16="http://schemas.microsoft.com/office/drawing/2014/main" id="{6E25DD6C-2A37-4709-B29A-446A5718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56A181-3C79-475A-8A12-7267413561EB}"/>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09579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4EA1-58E4-42A7-8DCA-725AFB10B7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60006E-D4B9-44A0-A059-EBC6CC39ACB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CE83F-AD46-425B-A854-996B54ABE788}"/>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A257BED7-15D0-4FA7-999F-F2D1804AD7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A33827-58FD-4965-A7A7-AB35B2772676}"/>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162583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7E049-7767-4915-BFAD-AA6268FC13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53A7E7-6996-49F7-8B45-7C9EA3F14BC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E4FD6-252D-4974-83FB-A1C670961515}"/>
              </a:ext>
            </a:extLst>
          </p:cNvPr>
          <p:cNvSpPr>
            <a:spLocks noGrp="1"/>
          </p:cNvSpPr>
          <p:nvPr>
            <p:ph type="dt" sz="half" idx="10"/>
          </p:nvPr>
        </p:nvSpPr>
        <p:spPr/>
        <p:txBody>
          <a:body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75E65431-35DC-476B-ABEA-82F227DD08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5E16B-5E75-4104-B122-F4472006EB30}"/>
              </a:ext>
            </a:extLst>
          </p:cNvPr>
          <p:cNvSpPr>
            <a:spLocks noGrp="1"/>
          </p:cNvSpPr>
          <p:nvPr>
            <p:ph type="sldNum" sz="quarter" idx="12"/>
          </p:nvPr>
        </p:nvSpPr>
        <p:spPr/>
        <p:txBody>
          <a:bodyPr/>
          <a:lstStyle/>
          <a:p>
            <a:fld id="{24E76E65-7777-4C32-B153-6028045D6BD3}" type="slidenum">
              <a:rPr lang="en-US" smtClean="0"/>
              <a:t>‹#›</a:t>
            </a:fld>
            <a:endParaRPr lang="en-US"/>
          </a:p>
        </p:txBody>
      </p:sp>
    </p:spTree>
    <p:extLst>
      <p:ext uri="{BB962C8B-B14F-4D97-AF65-F5344CB8AC3E}">
        <p14:creationId xmlns:p14="http://schemas.microsoft.com/office/powerpoint/2010/main" val="2982463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5371D-5B24-4F8F-B844-6B7F15843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08F94-535E-4939-99EE-305982298D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A8EA68-1C72-4720-B1FE-ED04C5E771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55A7CF-DB6C-4325-93B5-8C3F06D80356}" type="datetimeFigureOut">
              <a:rPr lang="en-US" smtClean="0"/>
              <a:t>9/23/2026</a:t>
            </a:fld>
            <a:endParaRPr lang="en-US"/>
          </a:p>
        </p:txBody>
      </p:sp>
      <p:sp>
        <p:nvSpPr>
          <p:cNvPr id="5" name="Footer Placeholder 4">
            <a:extLst>
              <a:ext uri="{FF2B5EF4-FFF2-40B4-BE49-F238E27FC236}">
                <a16:creationId xmlns:a16="http://schemas.microsoft.com/office/drawing/2014/main" id="{E13B2E32-A768-4ED6-970A-84BCB388DE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2913F1-F29E-45B5-BF89-6221E2F9F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76E65-7777-4C32-B153-6028045D6BD3}" type="slidenum">
              <a:rPr lang="en-US" smtClean="0"/>
              <a:t>‹#›</a:t>
            </a:fld>
            <a:endParaRPr lang="en-US"/>
          </a:p>
        </p:txBody>
      </p:sp>
    </p:spTree>
    <p:extLst>
      <p:ext uri="{BB962C8B-B14F-4D97-AF65-F5344CB8AC3E}">
        <p14:creationId xmlns:p14="http://schemas.microsoft.com/office/powerpoint/2010/main" val="2094410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dirty="0"/>
              <a:t>Company History</a:t>
            </a:r>
          </a:p>
        </p:txBody>
      </p:sp>
      <p:sp>
        <p:nvSpPr>
          <p:cNvPr id="3" name="TextBox3"/>
          <p:cNvSpPr txBox="1">
            <a:spLocks noChangeArrowheads="1"/>
          </p:cNvSpPr>
          <p:nvPr/>
        </p:nvSpPr>
        <p:spPr bwMode="white">
          <a:xfrm>
            <a:off x="675894" y="1799971"/>
            <a:ext cx="11102213" cy="923330"/>
          </a:xfrm>
          <a:prstGeom prst="rect">
            <a:avLst/>
          </a:prstGeom>
          <a:ln>
            <a:headEnd type="none"/>
            <a:tailEnd type="none"/>
          </a:ln>
        </p:spPr>
        <p:txBody>
          <a:bodyPr wrap="square">
            <a:spAutoFit/>
          </a:bodyPr>
          <a:lstStyle/>
          <a:p>
            <a:pPr defTabSz="914400"/>
            <a:r>
              <a:rPr dirty="0"/>
              <a:t>IMN Solutions PVT LTD is the software company, established in 1987, by George Milton. The company has been listed as the trusted partner for many high-profile organizations </a:t>
            </a:r>
            <a:r>
              <a:rPr dirty="0">
                <a:highlight>
                  <a:srgbClr val="FFFF00"/>
                </a:highlight>
              </a:rPr>
              <a:t>since 1988</a:t>
            </a:r>
            <a:r>
              <a:rPr dirty="0"/>
              <a:t> and got awards for quality products from reputed organizations.</a:t>
            </a:r>
          </a:p>
        </p:txBody>
      </p:sp>
      <p:sp>
        <p:nvSpPr>
          <p:cNvPr id="4" name="TextBox4"/>
          <p:cNvSpPr txBox="1">
            <a:spLocks noChangeArrowheads="1"/>
          </p:cNvSpPr>
          <p:nvPr/>
        </p:nvSpPr>
        <p:spPr bwMode="white">
          <a:xfrm>
            <a:off x="675894" y="3429000"/>
            <a:ext cx="5561330" cy="1477264"/>
          </a:xfrm>
          <a:prstGeom prst="rect">
            <a:avLst/>
          </a:prstGeom>
          <a:ln>
            <a:headEnd type="none"/>
            <a:tailEnd type="none"/>
          </a:ln>
        </p:spPr>
        <p:txBody>
          <a:bodyPr wrap="square">
            <a:spAutoFit/>
          </a:bodyPr>
          <a:lstStyle/>
          <a:p>
            <a:pPr marL="444500" indent="-444500" defTabSz="914400">
              <a:buAutoNum type="arabicPeriod"/>
            </a:pPr>
            <a:r>
              <a:rPr dirty="0"/>
              <a:t>The company acquired the </a:t>
            </a:r>
            <a:r>
              <a:rPr dirty="0">
                <a:highlight>
                  <a:srgbClr val="00FF00"/>
                </a:highlight>
              </a:rPr>
              <a:t>MCY corporation for 20 billion dollars</a:t>
            </a:r>
            <a:r>
              <a:rPr dirty="0"/>
              <a:t> and became the top revenue maker for the year 2015.</a:t>
            </a:r>
          </a:p>
          <a:p>
            <a:pPr marL="444500" indent="-444500" defTabSz="914400">
              <a:buAutoNum type="arabicPeriod"/>
            </a:pPr>
            <a:r>
              <a:rPr dirty="0"/>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7333" y="3030093"/>
            <a:ext cx="4629658" cy="2440432"/>
          </a:xfrm>
          <a:prstGeom prst="rect">
            <a:avLst/>
          </a:prstGeom>
          <a:ln>
            <a:headEnd type="none"/>
            <a:tailEnd type="none"/>
          </a:ln>
        </p:spPr>
      </p:pic>
      <p:sp>
        <p:nvSpPr>
          <p:cNvPr id="6" name="Explosion16"/>
          <p:cNvSpPr>
            <a:spLocks/>
          </p:cNvSpPr>
          <p:nvPr/>
        </p:nvSpPr>
        <p:spPr bwMode="white">
          <a:xfrm>
            <a:off x="621411" y="5470017"/>
            <a:ext cx="1322451" cy="1022858"/>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400"/>
            <a:r>
              <a:t>IMN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4C7F234-8050-2FF0-96AF-E57E18D3288C}"/>
              </a:ext>
            </a:extLst>
          </p:cNvPr>
          <p:cNvGraphicFramePr>
            <a:graphicFrameLocks noGrp="1"/>
          </p:cNvGraphicFramePr>
          <p:nvPr/>
        </p:nvGraphicFramePr>
        <p:xfrm>
          <a:off x="588252" y="2946158"/>
          <a:ext cx="10610690" cy="3760830"/>
        </p:xfrm>
        <a:graphic>
          <a:graphicData uri="http://schemas.openxmlformats.org/drawingml/2006/table">
            <a:tbl>
              <a:tblPr firstCol="1" bandRow="1">
                <a:tableStyleId>{7DF18680-E054-41AD-8BC1-D1AEF772440D}</a:tableStyleId>
              </a:tblPr>
              <a:tblGrid>
                <a:gridCol w="2561201">
                  <a:extLst>
                    <a:ext uri="{9D8B030D-6E8A-4147-A177-3AD203B41FA5}">
                      <a16:colId xmlns:a16="http://schemas.microsoft.com/office/drawing/2014/main" val="1464616093"/>
                    </a:ext>
                  </a:extLst>
                </a:gridCol>
                <a:gridCol w="8049489">
                  <a:extLst>
                    <a:ext uri="{9D8B030D-6E8A-4147-A177-3AD203B41FA5}">
                      <a16:colId xmlns:a16="http://schemas.microsoft.com/office/drawing/2014/main" val="1192474542"/>
                    </a:ext>
                  </a:extLst>
                </a:gridCol>
              </a:tblGrid>
              <a:tr h="890100">
                <a:tc>
                  <a:txBody>
                    <a:bodyPr/>
                    <a:lstStyle/>
                    <a:p>
                      <a:pPr marL="0" marR="0">
                        <a:lnSpc>
                          <a:spcPct val="107000"/>
                        </a:lnSpc>
                        <a:spcAft>
                          <a:spcPts val="800"/>
                        </a:spcAft>
                      </a:pPr>
                      <a:r>
                        <a:rPr lang="en-US" sz="1200" dirty="0">
                          <a:effectLst/>
                        </a:rPr>
                        <a:t>Project Vision</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rPr>
                        <a:t>Launch a website on 4/18/2025 that allows customers to purchase products online and reflects Adventure Works Cycle having the highest quality and the best products in its category.</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extLst>
                  <a:ext uri="{0D108BD9-81ED-4DB2-BD59-A6C34878D82A}">
                    <a16:rowId xmlns:a16="http://schemas.microsoft.com/office/drawing/2014/main" val="3649554764"/>
                  </a:ext>
                </a:extLst>
              </a:tr>
              <a:tr h="660210">
                <a:tc>
                  <a:txBody>
                    <a:bodyPr/>
                    <a:lstStyle/>
                    <a:p>
                      <a:pPr marL="0" marR="0">
                        <a:lnSpc>
                          <a:spcPct val="107000"/>
                        </a:lnSpc>
                        <a:spcAft>
                          <a:spcPts val="800"/>
                        </a:spcAft>
                      </a:pPr>
                      <a:r>
                        <a:rPr lang="en-US" sz="1200">
                          <a:effectLst/>
                        </a:rPr>
                        <a:t>Issues</a:t>
                      </a:r>
                      <a:endParaRPr lang="en-US" sz="110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rPr>
                        <a:t>By the end of next month, if we do not have a finalized product image, we will not be able to meet our deployment deadline.</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extLst>
                  <a:ext uri="{0D108BD9-81ED-4DB2-BD59-A6C34878D82A}">
                    <a16:rowId xmlns:a16="http://schemas.microsoft.com/office/drawing/2014/main" val="3974283757"/>
                  </a:ext>
                </a:extLst>
              </a:tr>
              <a:tr h="660210">
                <a:tc>
                  <a:txBody>
                    <a:bodyPr/>
                    <a:lstStyle/>
                    <a:p>
                      <a:pPr marL="0" marR="0">
                        <a:lnSpc>
                          <a:spcPct val="107000"/>
                        </a:lnSpc>
                        <a:spcAft>
                          <a:spcPts val="800"/>
                        </a:spcAft>
                      </a:pPr>
                      <a:r>
                        <a:rPr lang="en-US" sz="1200">
                          <a:effectLst/>
                        </a:rPr>
                        <a:t>Milestone accomplished</a:t>
                      </a:r>
                      <a:endParaRPr lang="en-US" sz="110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rPr>
                        <a:t>Framed the basic structure of website.</a:t>
                      </a:r>
                      <a:br>
                        <a:rPr lang="en-US" sz="1100" dirty="0">
                          <a:effectLst/>
                        </a:rPr>
                      </a:br>
                      <a:r>
                        <a:rPr lang="en-US" sz="1200" dirty="0">
                          <a:effectLst/>
                        </a:rPr>
                        <a:t>Applied for design review.</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extLst>
                  <a:ext uri="{0D108BD9-81ED-4DB2-BD59-A6C34878D82A}">
                    <a16:rowId xmlns:a16="http://schemas.microsoft.com/office/drawing/2014/main" val="3424702825"/>
                  </a:ext>
                </a:extLst>
              </a:tr>
              <a:tr h="660210">
                <a:tc>
                  <a:txBody>
                    <a:bodyPr/>
                    <a:lstStyle/>
                    <a:p>
                      <a:pPr marL="0" marR="0">
                        <a:lnSpc>
                          <a:spcPct val="107000"/>
                        </a:lnSpc>
                        <a:spcAft>
                          <a:spcPts val="800"/>
                        </a:spcAft>
                      </a:pPr>
                      <a:r>
                        <a:rPr lang="en-US" sz="1200" dirty="0">
                          <a:effectLst/>
                        </a:rPr>
                        <a:t>Milestones planned for next week</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rPr>
                        <a:t>Prepare design files for development.</a:t>
                      </a:r>
                      <a:br>
                        <a:rPr lang="en-US" sz="1100" dirty="0">
                          <a:effectLst/>
                        </a:rPr>
                      </a:br>
                      <a:r>
                        <a:rPr lang="en-US" sz="1200" dirty="0">
                          <a:effectLst/>
                        </a:rPr>
                        <a:t>Start development - Sprint 1 (Homepage &amp; Product Detail Page).</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extLst>
                  <a:ext uri="{0D108BD9-81ED-4DB2-BD59-A6C34878D82A}">
                    <a16:rowId xmlns:a16="http://schemas.microsoft.com/office/drawing/2014/main" val="888024937"/>
                  </a:ext>
                </a:extLst>
              </a:tr>
              <a:tr h="890100">
                <a:tc>
                  <a:txBody>
                    <a:bodyPr/>
                    <a:lstStyle/>
                    <a:p>
                      <a:pPr marL="0" marR="0">
                        <a:lnSpc>
                          <a:spcPct val="107000"/>
                        </a:lnSpc>
                        <a:spcAft>
                          <a:spcPts val="800"/>
                        </a:spcAft>
                      </a:pPr>
                      <a:r>
                        <a:rPr lang="en-US" sz="1200" dirty="0">
                          <a:effectLst/>
                        </a:rPr>
                        <a:t>Upcoming milestones</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tc>
                  <a:txBody>
                    <a:bodyPr/>
                    <a:lstStyle/>
                    <a:p>
                      <a:pPr marL="0" marR="0">
                        <a:lnSpc>
                          <a:spcPct val="107000"/>
                        </a:lnSpc>
                        <a:spcAft>
                          <a:spcPts val="800"/>
                        </a:spcAft>
                      </a:pPr>
                      <a:r>
                        <a:rPr lang="en-US" sz="1200" dirty="0">
                          <a:effectLst/>
                        </a:rPr>
                        <a:t>3/14/2025 : Design Approval</a:t>
                      </a:r>
                      <a:br>
                        <a:rPr lang="en-US" sz="1100" dirty="0">
                          <a:effectLst/>
                        </a:rPr>
                      </a:br>
                      <a:r>
                        <a:rPr lang="en-US" sz="1200" dirty="0">
                          <a:effectLst/>
                        </a:rPr>
                        <a:t>3/29/2025 : Development Begins</a:t>
                      </a:r>
                      <a:br>
                        <a:rPr lang="en-US" sz="1100" dirty="0">
                          <a:effectLst/>
                        </a:rPr>
                      </a:br>
                      <a:r>
                        <a:rPr lang="en-US" sz="1200" dirty="0">
                          <a:effectLst/>
                        </a:rPr>
                        <a:t>4/13/2025 : Deployment</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tc>
                <a:extLst>
                  <a:ext uri="{0D108BD9-81ED-4DB2-BD59-A6C34878D82A}">
                    <a16:rowId xmlns:a16="http://schemas.microsoft.com/office/drawing/2014/main" val="4183265658"/>
                  </a:ext>
                </a:extLst>
              </a:tr>
            </a:tbl>
          </a:graphicData>
        </a:graphic>
      </p:graphicFrame>
      <p:sp>
        <p:nvSpPr>
          <p:cNvPr id="9" name="TextBox 8">
            <a:extLst>
              <a:ext uri="{FF2B5EF4-FFF2-40B4-BE49-F238E27FC236}">
                <a16:creationId xmlns:a16="http://schemas.microsoft.com/office/drawing/2014/main" id="{A6D6B924-2B9F-B3DE-BBE1-E639A4ADAB3B}"/>
              </a:ext>
            </a:extLst>
          </p:cNvPr>
          <p:cNvSpPr txBox="1"/>
          <p:nvPr/>
        </p:nvSpPr>
        <p:spPr>
          <a:xfrm>
            <a:off x="548640" y="1371600"/>
            <a:ext cx="16984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Date :</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FormField_TextBox 9">
            <a:extLst>
              <a:ext uri="{FF2B5EF4-FFF2-40B4-BE49-F238E27FC236}">
                <a16:creationId xmlns:a16="http://schemas.microsoft.com/office/drawing/2014/main" id="{197C4A2F-487A-7321-C8AD-A074D599DEE5}"/>
              </a:ext>
            </a:extLst>
          </p:cNvPr>
          <p:cNvSpPr txBox="1"/>
          <p:nvPr/>
        </p:nvSpPr>
        <p:spPr>
          <a:xfrm>
            <a:off x="2553927" y="1371600"/>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2/27/2025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5554430-6FF4-BB15-4718-7594F7558754}"/>
              </a:ext>
            </a:extLst>
          </p:cNvPr>
          <p:cNvSpPr txBox="1"/>
          <p:nvPr/>
        </p:nvSpPr>
        <p:spPr>
          <a:xfrm>
            <a:off x="548640" y="111684"/>
            <a:ext cx="10607040" cy="595932"/>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Project Status Report</a:t>
            </a:r>
            <a:endPar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A20EDBF-C07E-47F1-E82D-201E68C10164}"/>
              </a:ext>
            </a:extLst>
          </p:cNvPr>
          <p:cNvSpPr txBox="1"/>
          <p:nvPr/>
        </p:nvSpPr>
        <p:spPr>
          <a:xfrm>
            <a:off x="548640" y="950976"/>
            <a:ext cx="23697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Status :</a:t>
            </a:r>
          </a:p>
        </p:txBody>
      </p:sp>
      <p:sp>
        <p:nvSpPr>
          <p:cNvPr id="13" name="FormField_TextBox 12">
            <a:extLst>
              <a:ext uri="{FF2B5EF4-FFF2-40B4-BE49-F238E27FC236}">
                <a16:creationId xmlns:a16="http://schemas.microsoft.com/office/drawing/2014/main" id="{6C84F9BC-5BE8-053A-6EC1-27B0E5E208E8}"/>
              </a:ext>
            </a:extLst>
          </p:cNvPr>
          <p:cNvSpPr txBox="1"/>
          <p:nvPr/>
        </p:nvSpPr>
        <p:spPr>
          <a:xfrm>
            <a:off x="2553927" y="950976"/>
            <a:ext cx="12327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In-Progress</a:t>
            </a:r>
          </a:p>
        </p:txBody>
      </p:sp>
      <p:sp>
        <p:nvSpPr>
          <p:cNvPr id="14" name="TextBox 13">
            <a:extLst>
              <a:ext uri="{FF2B5EF4-FFF2-40B4-BE49-F238E27FC236}">
                <a16:creationId xmlns:a16="http://schemas.microsoft.com/office/drawing/2014/main" id="{0E445A13-0B30-07C1-858A-9145405B58A4}"/>
              </a:ext>
            </a:extLst>
          </p:cNvPr>
          <p:cNvSpPr txBox="1"/>
          <p:nvPr/>
        </p:nvSpPr>
        <p:spPr>
          <a:xfrm>
            <a:off x="548640" y="1792224"/>
            <a:ext cx="2007782"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Project Name :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 name="FormField_TextBox 14">
            <a:extLst>
              <a:ext uri="{FF2B5EF4-FFF2-40B4-BE49-F238E27FC236}">
                <a16:creationId xmlns:a16="http://schemas.microsoft.com/office/drawing/2014/main" id="{B7999298-A9AB-889F-264D-43DC5A1437EC}"/>
              </a:ext>
            </a:extLst>
          </p:cNvPr>
          <p:cNvSpPr txBox="1"/>
          <p:nvPr/>
        </p:nvSpPr>
        <p:spPr>
          <a:xfrm>
            <a:off x="2553927" y="1792224"/>
            <a:ext cx="3434466"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Website for Adventure works cycle</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398BC359-62F2-06AC-C4CB-EB9FB44E2181}"/>
              </a:ext>
            </a:extLst>
          </p:cNvPr>
          <p:cNvSpPr txBox="1"/>
          <p:nvPr/>
        </p:nvSpPr>
        <p:spPr>
          <a:xfrm>
            <a:off x="548640" y="2304288"/>
            <a:ext cx="2459958"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Project Manager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FormField_TextBox 16">
            <a:extLst>
              <a:ext uri="{FF2B5EF4-FFF2-40B4-BE49-F238E27FC236}">
                <a16:creationId xmlns:a16="http://schemas.microsoft.com/office/drawing/2014/main" id="{A17898EB-B710-4263-979C-BAC979F02489}"/>
              </a:ext>
            </a:extLst>
          </p:cNvPr>
          <p:cNvSpPr txBox="1"/>
          <p:nvPr/>
        </p:nvSpPr>
        <p:spPr>
          <a:xfrm>
            <a:off x="2553927" y="2304288"/>
            <a:ext cx="1522020"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Nancy </a:t>
            </a:r>
            <a:r>
              <a:rPr kumimoji="0" lang="en-US"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Davolio</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136B717-11D3-4971-B044-FBCF4FCCE792}"/>
              </a:ext>
            </a:extLst>
          </p:cNvPr>
          <p:cNvSpPr txBox="1"/>
          <p:nvPr/>
        </p:nvSpPr>
        <p:spPr>
          <a:xfrm>
            <a:off x="7269480" y="950976"/>
            <a:ext cx="1529310"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Team size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9" name="FormField_TextBox 18">
            <a:extLst>
              <a:ext uri="{FF2B5EF4-FFF2-40B4-BE49-F238E27FC236}">
                <a16:creationId xmlns:a16="http://schemas.microsoft.com/office/drawing/2014/main" id="{5B21B834-966A-2688-BCAF-326339EBDE33}"/>
              </a:ext>
            </a:extLst>
          </p:cNvPr>
          <p:cNvSpPr txBox="1"/>
          <p:nvPr/>
        </p:nvSpPr>
        <p:spPr>
          <a:xfrm>
            <a:off x="8823960" y="950976"/>
            <a:ext cx="431528" cy="377860"/>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405656A6-995A-F969-B802-85CA147C7C38}"/>
              </a:ext>
            </a:extLst>
          </p:cNvPr>
          <p:cNvSpPr txBox="1"/>
          <p:nvPr/>
        </p:nvSpPr>
        <p:spPr>
          <a:xfrm>
            <a:off x="7269480" y="1371600"/>
            <a:ext cx="1529310" cy="377860"/>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Platform : </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1" name="FormField_TextBox 20">
            <a:extLst>
              <a:ext uri="{FF2B5EF4-FFF2-40B4-BE49-F238E27FC236}">
                <a16:creationId xmlns:a16="http://schemas.microsoft.com/office/drawing/2014/main" id="{62853D8A-7E05-98FC-3526-19891F888550}"/>
              </a:ext>
            </a:extLst>
          </p:cNvPr>
          <p:cNvSpPr txBox="1"/>
          <p:nvPr/>
        </p:nvSpPr>
        <p:spPr>
          <a:xfrm>
            <a:off x="8823960" y="1371600"/>
            <a:ext cx="943913" cy="375552"/>
          </a:xfrm>
          <a:prstGeom prst="rect">
            <a:avLst/>
          </a:prstGeom>
          <a:noFill/>
        </p:spPr>
        <p:txBody>
          <a:bodyPr wrap="none" rtlCol="0">
            <a:spAutoFit/>
          </a:body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ASP.NET</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C164C8A2-E2E5-A20A-E797-867D92DF49F3}"/>
              </a:ext>
            </a:extLst>
          </p:cNvPr>
          <p:cNvSpPr txBox="1"/>
          <p:nvPr/>
        </p:nvSpPr>
        <p:spPr>
          <a:xfrm>
            <a:off x="7269480" y="1792224"/>
            <a:ext cx="15293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Start Date :</a:t>
            </a:r>
          </a:p>
        </p:txBody>
      </p:sp>
      <p:sp>
        <p:nvSpPr>
          <p:cNvPr id="23" name="FormField_TextBox 22">
            <a:extLst>
              <a:ext uri="{FF2B5EF4-FFF2-40B4-BE49-F238E27FC236}">
                <a16:creationId xmlns:a16="http://schemas.microsoft.com/office/drawing/2014/main" id="{AB939302-6A65-F684-5DDD-E6C2DA5686C4}"/>
              </a:ext>
            </a:extLst>
          </p:cNvPr>
          <p:cNvSpPr txBox="1"/>
          <p:nvPr/>
        </p:nvSpPr>
        <p:spPr>
          <a:xfrm>
            <a:off x="8823960" y="1792224"/>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2/27/2025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E4BB967E-EC6B-64B4-18E4-2F07CD25E606}"/>
              </a:ext>
            </a:extLst>
          </p:cNvPr>
          <p:cNvSpPr txBox="1"/>
          <p:nvPr/>
        </p:nvSpPr>
        <p:spPr>
          <a:xfrm>
            <a:off x="7269480" y="2304288"/>
            <a:ext cx="152931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End Date :</a:t>
            </a:r>
          </a:p>
        </p:txBody>
      </p:sp>
      <p:sp>
        <p:nvSpPr>
          <p:cNvPr id="25" name="FormField_TextBox 24">
            <a:extLst>
              <a:ext uri="{FF2B5EF4-FFF2-40B4-BE49-F238E27FC236}">
                <a16:creationId xmlns:a16="http://schemas.microsoft.com/office/drawing/2014/main" id="{BBAB2B1F-AB52-212E-0AEC-C610A5F335D4}"/>
              </a:ext>
            </a:extLst>
          </p:cNvPr>
          <p:cNvSpPr txBox="1"/>
          <p:nvPr/>
        </p:nvSpPr>
        <p:spPr>
          <a:xfrm>
            <a:off x="8823960" y="2304288"/>
            <a:ext cx="1183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4/20/2025</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1614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8032F8-941F-B645-4104-0D0D620641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431539" y="2171546"/>
            <a:ext cx="9328922" cy="2734751"/>
          </a:xfrm>
          <a:prstGeom prst="rect">
            <a:avLst/>
          </a:prstGeom>
        </p:spPr>
      </p:pic>
      <p:sp>
        <p:nvSpPr>
          <p:cNvPr id="4" name="TextBox 3">
            <a:extLst>
              <a:ext uri="{FF2B5EF4-FFF2-40B4-BE49-F238E27FC236}">
                <a16:creationId xmlns:a16="http://schemas.microsoft.com/office/drawing/2014/main" id="{DDE85D2D-86B1-164E-8E2B-854A76E013C1}"/>
              </a:ext>
            </a:extLst>
          </p:cNvPr>
          <p:cNvSpPr txBox="1"/>
          <p:nvPr/>
        </p:nvSpPr>
        <p:spPr>
          <a:xfrm>
            <a:off x="881031" y="701619"/>
            <a:ext cx="7159850" cy="595932"/>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3200" b="1" dirty="0">
                <a:solidFill>
                  <a:prstClr val="black"/>
                </a:solidFill>
                <a:latin typeface="Calibri" panose="020F0502020204030204" pitchFamily="34" charset="0"/>
                <a:ea typeface="Calibri" panose="020F0502020204030204" pitchFamily="34" charset="0"/>
                <a:cs typeface="Calibri" panose="020F0502020204030204" pitchFamily="34" charset="0"/>
              </a:rPr>
              <a:t>SVG</a:t>
            </a:r>
            <a:r>
              <a:rPr kumimoji="0" lang="en-US" sz="3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Image of Company Structure</a:t>
            </a:r>
            <a:endPar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607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AF446A2-4B07-1266-1DE8-BD5AF6C1E126}"/>
              </a:ext>
            </a:extLst>
          </p:cNvPr>
          <p:cNvSpPr txBox="1">
            <a:spLocks/>
          </p:cNvSpPr>
          <p:nvPr/>
        </p:nvSpPr>
        <p:spPr>
          <a:xfrm>
            <a:off x="761839" y="871146"/>
            <a:ext cx="4544762" cy="14011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mn-lt"/>
              </a:rPr>
              <a:t>CHEST X-RAY REPORT</a:t>
            </a:r>
          </a:p>
        </p:txBody>
      </p:sp>
      <p:sp>
        <p:nvSpPr>
          <p:cNvPr id="11" name="Rectangle 9">
            <a:extLst>
              <a:ext uri="{FF2B5EF4-FFF2-40B4-BE49-F238E27FC236}">
                <a16:creationId xmlns:a16="http://schemas.microsoft.com/office/drawing/2014/main" id="{5673CC79-1B73-5AA5-74EE-DCBA87C263E6}"/>
              </a:ext>
            </a:extLst>
          </p:cNvPr>
          <p:cNvSpPr>
            <a:spLocks noChangeArrowheads="1"/>
          </p:cNvSpPr>
          <p:nvPr/>
        </p:nvSpPr>
        <p:spPr bwMode="auto">
          <a:xfrm>
            <a:off x="761839" y="1760198"/>
            <a:ext cx="5334161" cy="414799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n-US" dirty="0">
              <a:latin typeface="+mn-lt"/>
            </a:endParaRPr>
          </a:p>
          <a:p>
            <a:pPr marR="0" lvl="0" eaLnBrk="1" fontAlgn="base" hangingPunct="1">
              <a:lnSpc>
                <a:spcPct val="90000"/>
              </a:lnSpc>
              <a:spcBef>
                <a:spcPct val="0"/>
              </a:spcBef>
              <a:spcAft>
                <a:spcPts val="600"/>
              </a:spcAft>
              <a:buClrTx/>
              <a:buSzTx/>
              <a:tabLst/>
            </a:pPr>
            <a:r>
              <a:rPr lang="en-US" altLang="en-US" b="1" dirty="0">
                <a:latin typeface="+mn-lt"/>
              </a:rPr>
              <a:t>X-ray Number : </a:t>
            </a:r>
            <a:r>
              <a:rPr lang="en-US" altLang="en-US" dirty="0">
                <a:latin typeface="+mn-lt"/>
              </a:rPr>
              <a:t>52587412</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lang="en-US" altLang="en-US" dirty="0">
              <a:latin typeface="+mn-lt"/>
            </a:endParaRPr>
          </a:p>
          <a:p>
            <a:pPr marR="0" lvl="0" eaLnBrk="1" fontAlgn="base" hangingPunct="1">
              <a:lnSpc>
                <a:spcPct val="90000"/>
              </a:lnSpc>
              <a:spcBef>
                <a:spcPct val="0"/>
              </a:spcBef>
              <a:spcAft>
                <a:spcPts val="600"/>
              </a:spcAft>
              <a:buClrTx/>
              <a:buSzTx/>
              <a:tabLst/>
            </a:pPr>
            <a:r>
              <a:rPr lang="en-US" altLang="en-US" b="1" dirty="0">
                <a:latin typeface="+mn-lt"/>
              </a:rPr>
              <a:t>READINGS :</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mn-lt"/>
              </a:rPr>
              <a:t>Lungs : </a:t>
            </a:r>
            <a:r>
              <a:rPr lang="en-US" altLang="en-US" dirty="0">
                <a:latin typeface="+mn-lt"/>
              </a:rPr>
              <a:t>Clear and well-inflated; no signs of pneumonia, pneumothorax, or effusion.</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mn-lt"/>
              </a:rPr>
              <a:t>Heart : </a:t>
            </a:r>
            <a:r>
              <a:rPr lang="en-US" altLang="en-US" dirty="0">
                <a:latin typeface="+mn-lt"/>
              </a:rPr>
              <a:t>Normal size and shape; cardiac silhouette within normal limits; no cardiomegaly or pericardial effusion. </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mn-lt"/>
              </a:rPr>
              <a:t>Diaphragms : </a:t>
            </a:r>
            <a:r>
              <a:rPr lang="en-US" altLang="en-US" dirty="0">
                <a:latin typeface="+mn-lt"/>
              </a:rPr>
              <a:t>Well-defined and even; no elevation or depression.</a:t>
            </a:r>
          </a:p>
          <a:p>
            <a:pPr marL="0" marR="0" lvl="0" indent="-228600" eaLnBrk="1" fontAlgn="base" hangingPunct="1">
              <a:spcBef>
                <a:spcPct val="0"/>
              </a:spcBef>
              <a:spcAft>
                <a:spcPts val="600"/>
              </a:spcAft>
              <a:buClrTx/>
              <a:buSzTx/>
              <a:buFont typeface="Arial" panose="020B0604020202020204" pitchFamily="34" charset="0"/>
              <a:buChar char="•"/>
              <a:tabLst/>
            </a:pPr>
            <a:r>
              <a:rPr lang="en-US" altLang="en-US" b="1" dirty="0">
                <a:latin typeface="+mn-lt"/>
              </a:rPr>
              <a:t>Bones : </a:t>
            </a:r>
            <a:r>
              <a:rPr lang="en-US" altLang="en-US" dirty="0">
                <a:latin typeface="+mn-lt"/>
              </a:rPr>
              <a:t>Normal appearance; no fractures or dislocations.</a:t>
            </a:r>
          </a:p>
        </p:txBody>
      </p:sp>
      <p:pic>
        <p:nvPicPr>
          <p:cNvPr id="12" name="Picture 1" descr="A chest x-ray of a person&#10;&#10;Description automatically generated">
            <a:extLst>
              <a:ext uri="{FF2B5EF4-FFF2-40B4-BE49-F238E27FC236}">
                <a16:creationId xmlns:a16="http://schemas.microsoft.com/office/drawing/2014/main" id="{E3689B34-F6A6-D4EE-3C2A-7FB96FFCDC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69394" y="771754"/>
            <a:ext cx="4005494" cy="4579148"/>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6">
            <a:extLst>
              <a:ext uri="{FF2B5EF4-FFF2-40B4-BE49-F238E27FC236}">
                <a16:creationId xmlns:a16="http://schemas.microsoft.com/office/drawing/2014/main" id="{D0E5E2ED-8D7A-4B6D-4121-1EDA37E9CBED}"/>
              </a:ext>
            </a:extLst>
          </p:cNvPr>
          <p:cNvSpPr txBox="1"/>
          <p:nvPr/>
        </p:nvSpPr>
        <p:spPr>
          <a:xfrm>
            <a:off x="7695739" y="5452777"/>
            <a:ext cx="3198403" cy="23083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marL="0" marR="0" algn="ctr">
              <a:spcBef>
                <a:spcPts val="0"/>
              </a:spcBef>
              <a:spcAft>
                <a:spcPts val="0"/>
              </a:spcAft>
            </a:pPr>
            <a:r>
              <a:rPr lang="en-US" sz="1500" i="1" dirty="0">
                <a:effectLst/>
                <a:ea typeface="Times New Roman" panose="02020603050405020304" pitchFamily="18" charset="0"/>
              </a:rPr>
              <a:t>Figure 1: Chest X-ray- TIFF Version</a:t>
            </a:r>
          </a:p>
        </p:txBody>
      </p:sp>
    </p:spTree>
    <p:extLst>
      <p:ext uri="{BB962C8B-B14F-4D97-AF65-F5344CB8AC3E}">
        <p14:creationId xmlns:p14="http://schemas.microsoft.com/office/powerpoint/2010/main" val="4027211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lang="en-US" dirty="0"/>
              <a:t>Multicolumn</a:t>
            </a:r>
            <a:endParaRPr dirty="0"/>
          </a:p>
        </p:txBody>
      </p:sp>
      <p:sp>
        <p:nvSpPr>
          <p:cNvPr id="4" name="TextBox 3">
            <a:extLst>
              <a:ext uri="{FF2B5EF4-FFF2-40B4-BE49-F238E27FC236}">
                <a16:creationId xmlns:a16="http://schemas.microsoft.com/office/drawing/2014/main" id="{AA53A94A-8663-48B3-B5C6-1932868B76F0}"/>
              </a:ext>
            </a:extLst>
          </p:cNvPr>
          <p:cNvSpPr txBox="1"/>
          <p:nvPr/>
        </p:nvSpPr>
        <p:spPr>
          <a:xfrm>
            <a:off x="1717287" y="1690688"/>
            <a:ext cx="8720253" cy="3419856"/>
          </a:xfrm>
          <a:prstGeom prst="rect">
            <a:avLst/>
          </a:prstGeom>
          <a:noFill/>
        </p:spPr>
        <p:txBody>
          <a:bodyPr wrap="square" numCol="3" spcCol="365760" rtlCol="0">
            <a:spAutoFit/>
          </a:bodyPr>
          <a:lstStyle/>
          <a:p>
            <a:pPr algn="l"/>
            <a:r>
              <a:rPr lang="en-US" sz="1800" dirty="0">
                <a:solidFill>
                  <a:srgbClr val="000000"/>
                </a:solidFill>
                <a:latin typeface="Calibri" panose="020F0502020204030204" pitchFamily="34" charset="0"/>
                <a:cs typeface="Calibri" panose="020F0502020204030204" pitchFamily="34" charset="0"/>
              </a:rPr>
              <a:t>Adventure Works Cycles, the fictitious company on which the Adventure Works sample databases are based, is a large, multinational manufacturing company. The company manufactures and sells metal and composite to North American, European and Asian commercial markets. While its base operation is located in Bothell, Washington with 290 employees, several regional sales teams are located throughout their market base.</a:t>
            </a:r>
          </a:p>
          <a:p>
            <a:pPr algn="l"/>
            <a:r>
              <a:rPr lang="en-US" sz="1800" dirty="0">
                <a:solidFill>
                  <a:srgbClr val="000000"/>
                </a:solidFill>
                <a:latin typeface="Calibri" panose="020F0502020204030204" pitchFamily="34" charset="0"/>
                <a:cs typeface="Calibri" panose="020F0502020204030204" pitchFamily="34" charset="0"/>
              </a:rPr>
              <a:t>In 2000, Adventure Works Cycles bought a small manufacturing plant, </a:t>
            </a:r>
            <a:r>
              <a:rPr lang="en-US" sz="1800" dirty="0" err="1">
                <a:solidFill>
                  <a:srgbClr val="000000"/>
                </a:solidFill>
                <a:latin typeface="Calibri" panose="020F0502020204030204" pitchFamily="34" charset="0"/>
                <a:cs typeface="Calibri" panose="020F0502020204030204" pitchFamily="34" charset="0"/>
              </a:rPr>
              <a:t>Importadores</a:t>
            </a:r>
            <a:r>
              <a:rPr lang="en-US" sz="1800" dirty="0">
                <a:solidFill>
                  <a:srgbClr val="000000"/>
                </a:solidFill>
                <a:latin typeface="Calibri" panose="020F0502020204030204" pitchFamily="34" charset="0"/>
                <a:cs typeface="Calibri" panose="020F0502020204030204" pitchFamily="34" charset="0"/>
              </a:rPr>
              <a:t> Neptuno, located in Mexico. </a:t>
            </a:r>
            <a:r>
              <a:rPr lang="en-US" sz="1800" dirty="0" err="1">
                <a:solidFill>
                  <a:srgbClr val="000000"/>
                </a:solidFill>
                <a:latin typeface="Calibri" panose="020F0502020204030204" pitchFamily="34" charset="0"/>
                <a:cs typeface="Calibri" panose="020F0502020204030204" pitchFamily="34" charset="0"/>
              </a:rPr>
              <a:t>Importadores</a:t>
            </a:r>
            <a:r>
              <a:rPr lang="en-US" sz="1800" dirty="0">
                <a:solidFill>
                  <a:srgbClr val="000000"/>
                </a:solidFill>
                <a:latin typeface="Calibri" panose="020F0502020204030204" pitchFamily="34" charset="0"/>
                <a:cs typeface="Calibri" panose="020F0502020204030204" pitchFamily="34" charset="0"/>
              </a:rPr>
              <a:t> Neptuno manufactures several critical subcomponents for the Adventure Works product line. These subcomponents are shipped to the Bothell location for final product assembly. </a:t>
            </a:r>
          </a:p>
        </p:txBody>
      </p:sp>
    </p:spTree>
    <p:extLst>
      <p:ext uri="{BB962C8B-B14F-4D97-AF65-F5344CB8AC3E}">
        <p14:creationId xmlns:p14="http://schemas.microsoft.com/office/powerpoint/2010/main" val="420065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3275F726-C0B5-47DE-BC71-6DFED385E2E6}"/>
              </a:ext>
            </a:extLst>
          </p:cNvPr>
          <p:cNvGraphicFramePr/>
          <p:nvPr>
            <p:extLst>
              <p:ext uri="{D42A27DB-BD31-4B8C-83A1-F6EECF244321}">
                <p14:modId xmlns:p14="http://schemas.microsoft.com/office/powerpoint/2010/main" val="351699678"/>
              </p:ext>
            </p:extLst>
          </p:nvPr>
        </p:nvGraphicFramePr>
        <p:xfrm>
          <a:off x="2032000" y="719666"/>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1059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5263388"/>
        </p:xfrm>
        <a:graphic>
          <a:graphicData uri="http://schemas.openxmlformats.org/drawingml/2006/table">
            <a:tbl>
              <a:tblPr firstRow="1" bandRow="1">
                <a:tableStyleId>{93296810-A885-4BE3-A3E7-6D5BEEA58F35}</a:tableStyleId>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065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1206500">
                  <a:extLst>
                    <a:ext uri="{9D8B030D-6E8A-4147-A177-3AD203B41FA5}">
                      <a16:colId xmlns:a16="http://schemas.microsoft.com/office/drawing/2014/main" val="20006"/>
                    </a:ext>
                  </a:extLst>
                </a:gridCol>
                <a:gridCol w="1206500">
                  <a:extLst>
                    <a:ext uri="{9D8B030D-6E8A-4147-A177-3AD203B41FA5}">
                      <a16:colId xmlns:a16="http://schemas.microsoft.com/office/drawing/2014/main" val="20007"/>
                    </a:ext>
                  </a:extLst>
                </a:gridCol>
                <a:gridCol w="1206500">
                  <a:extLst>
                    <a:ext uri="{9D8B030D-6E8A-4147-A177-3AD203B41FA5}">
                      <a16:colId xmlns:a16="http://schemas.microsoft.com/office/drawing/2014/main" val="20008"/>
                    </a:ext>
                  </a:extLst>
                </a:gridCol>
              </a:tblGrid>
              <a:tr h="1034288">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extLst>
                  <a:ext uri="{0D108BD9-81ED-4DB2-BD59-A6C34878D82A}">
                    <a16:rowId xmlns:a16="http://schemas.microsoft.com/office/drawing/2014/main" val="10000"/>
                  </a:ext>
                </a:extLst>
              </a:tr>
              <a:tr h="469900">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extLst>
                  <a:ext uri="{0D108BD9-81ED-4DB2-BD59-A6C34878D82A}">
                    <a16:rowId xmlns:a16="http://schemas.microsoft.com/office/drawing/2014/main" val="10001"/>
                  </a:ext>
                </a:extLst>
              </a:tr>
              <a:tr h="469900">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extLst>
                  <a:ext uri="{0D108BD9-81ED-4DB2-BD59-A6C34878D82A}">
                    <a16:rowId xmlns:a16="http://schemas.microsoft.com/office/drawing/2014/main" val="10002"/>
                  </a:ext>
                </a:extLst>
              </a:tr>
              <a:tr h="469900">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extLst>
                  <a:ext uri="{0D108BD9-81ED-4DB2-BD59-A6C34878D82A}">
                    <a16:rowId xmlns:a16="http://schemas.microsoft.com/office/drawing/2014/main" val="10003"/>
                  </a:ext>
                </a:extLst>
              </a:tr>
              <a:tr h="469900">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extLst>
                  <a:ext uri="{0D108BD9-81ED-4DB2-BD59-A6C34878D82A}">
                    <a16:rowId xmlns:a16="http://schemas.microsoft.com/office/drawing/2014/main" val="10004"/>
                  </a:ext>
                </a:extLst>
              </a:tr>
              <a:tr h="469900">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extLst>
                  <a:ext uri="{0D108BD9-81ED-4DB2-BD59-A6C34878D82A}">
                    <a16:rowId xmlns:a16="http://schemas.microsoft.com/office/drawing/2014/main" val="10005"/>
                  </a:ext>
                </a:extLst>
              </a:tr>
              <a:tr h="469900">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extLst>
                  <a:ext uri="{0D108BD9-81ED-4DB2-BD59-A6C34878D82A}">
                    <a16:rowId xmlns:a16="http://schemas.microsoft.com/office/drawing/2014/main" val="10006"/>
                  </a:ext>
                </a:extLst>
              </a:tr>
              <a:tr h="469900">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extLst>
                  <a:ext uri="{0D108BD9-81ED-4DB2-BD59-A6C34878D82A}">
                    <a16:rowId xmlns:a16="http://schemas.microsoft.com/office/drawing/2014/main" val="10007"/>
                  </a:ext>
                </a:extLst>
              </a:tr>
              <a:tr h="469900">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extLst>
                  <a:ext uri="{0D108BD9-81ED-4DB2-BD59-A6C34878D82A}">
                    <a16:rowId xmlns:a16="http://schemas.microsoft.com/office/drawing/2014/main" val="10008"/>
                  </a:ext>
                </a:extLst>
              </a:tr>
              <a:tr h="469900">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524</Words>
  <Application>Microsoft Office PowerPoint</Application>
  <PresentationFormat>Widescreen</PresentationFormat>
  <Paragraphs>138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Company History</vt:lpstr>
      <vt:lpstr>PowerPoint Presentation</vt:lpstr>
      <vt:lpstr>PowerPoint Presentation</vt:lpstr>
      <vt:lpstr>PowerPoint Presentation</vt:lpstr>
      <vt:lpstr>Multicolumn</vt:lpstr>
      <vt:lpstr>PowerPoint Presentation</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Vijayasurya Anandhan</dc:creator>
  <cp:lastModifiedBy>Suriya Balamurugan</cp:lastModifiedBy>
  <cp:revision>24</cp:revision>
  <dcterms:created xsi:type="dcterms:W3CDTF">2019-02-27T08:36:52Z</dcterms:created>
  <dcterms:modified xsi:type="dcterms:W3CDTF">2026-09-23T11:06:32Z</dcterms:modified>
</cp:coreProperties>
</file>